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67" r:id="rId3"/>
    <p:sldId id="257" r:id="rId4"/>
    <p:sldId id="266" r:id="rId5"/>
    <p:sldId id="268" r:id="rId6"/>
    <p:sldId id="258" r:id="rId7"/>
    <p:sldId id="259" r:id="rId8"/>
    <p:sldId id="260" r:id="rId9"/>
    <p:sldId id="261" r:id="rId10"/>
    <p:sldId id="262" r:id="rId11"/>
    <p:sldId id="263" r:id="rId12"/>
    <p:sldId id="269" r:id="rId13"/>
    <p:sldId id="264" r:id="rId14"/>
    <p:sldId id="270" r:id="rId15"/>
    <p:sldId id="271" r:id="rId16"/>
    <p:sldId id="265" r:id="rId17"/>
  </p:sldIdLst>
  <p:sldSz cx="9753600" cy="7315200"/>
  <p:notesSz cx="9753600" cy="7315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P3zEIWZyCYabOvA+uP1BT6mGl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1598" y="67"/>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25925" y="548625"/>
            <a:ext cx="6502725"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 name="Google Shape;50;p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 name="Google Shape;57;p2: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4: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 name="Google Shape;64;p14:notes"/>
          <p:cNvSpPr>
            <a:spLocks noGrp="1" noRot="1" noChangeAspect="1"/>
          </p:cNvSpPr>
          <p:nvPr>
            <p:ph type="sldImg" idx="2"/>
          </p:nvPr>
        </p:nvSpPr>
        <p:spPr>
          <a:xfrm>
            <a:off x="1625925" y="548625"/>
            <a:ext cx="6502725"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3: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 name="Google Shape;71;p3: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4: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5: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15: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6: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6: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19ac019662_0_1: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319ac019662_0_1:notes"/>
          <p:cNvSpPr txBox="1">
            <a:spLocks noGrp="1"/>
          </p:cNvSpPr>
          <p:nvPr>
            <p:ph type="body" idx="1"/>
          </p:nvPr>
        </p:nvSpPr>
        <p:spPr>
          <a:xfrm>
            <a:off x="975350" y="3474700"/>
            <a:ext cx="7803000" cy="329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7:notes"/>
          <p:cNvSpPr txBox="1">
            <a:spLocks noGrp="1"/>
          </p:cNvSpPr>
          <p:nvPr>
            <p:ph type="body" idx="1"/>
          </p:nvPr>
        </p:nvSpPr>
        <p:spPr>
          <a:xfrm>
            <a:off x="975350" y="3474700"/>
            <a:ext cx="7802875" cy="329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17:notes"/>
          <p:cNvSpPr>
            <a:spLocks noGrp="1" noRot="1" noChangeAspect="1"/>
          </p:cNvSpPr>
          <p:nvPr>
            <p:ph type="sldImg" idx="2"/>
          </p:nvPr>
        </p:nvSpPr>
        <p:spPr>
          <a:xfrm>
            <a:off x="1625925" y="548625"/>
            <a:ext cx="6502725" cy="2743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975350" y="3474700"/>
            <a:ext cx="7802875" cy="3291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7:notes"/>
          <p:cNvSpPr>
            <a:spLocks noGrp="1" noRot="1" noChangeAspect="1"/>
          </p:cNvSpPr>
          <p:nvPr>
            <p:ph type="sldImg" idx="2"/>
          </p:nvPr>
        </p:nvSpPr>
        <p:spPr>
          <a:xfrm>
            <a:off x="3048000" y="549275"/>
            <a:ext cx="3657600" cy="2743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20"/>
        <p:cNvGrpSpPr/>
        <p:nvPr/>
      </p:nvGrpSpPr>
      <p:grpSpPr>
        <a:xfrm>
          <a:off x="0" y="0"/>
          <a:ext cx="0" cy="0"/>
          <a:chOff x="0" y="0"/>
          <a:chExt cx="0" cy="0"/>
        </a:xfrm>
      </p:grpSpPr>
      <p:sp>
        <p:nvSpPr>
          <p:cNvPr id="21" name="Google Shape;21;p9"/>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0"/>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0"/>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11"/>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1"/>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1"/>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sp>
        <p:nvSpPr>
          <p:cNvPr id="36" name="Google Shape;36;p12"/>
          <p:cNvSpPr txBox="1">
            <a:spLocks noGrp="1"/>
          </p:cNvSpPr>
          <p:nvPr>
            <p:ph type="ctrTitle"/>
          </p:nvPr>
        </p:nvSpPr>
        <p:spPr>
          <a:xfrm>
            <a:off x="731520" y="2267712"/>
            <a:ext cx="8290560" cy="1536192"/>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2"/>
          <p:cNvSpPr txBox="1">
            <a:spLocks noGrp="1"/>
          </p:cNvSpPr>
          <p:nvPr>
            <p:ph type="subTitle" idx="1"/>
          </p:nvPr>
        </p:nvSpPr>
        <p:spPr>
          <a:xfrm>
            <a:off x="1463040" y="4096512"/>
            <a:ext cx="6827520" cy="1828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1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2"/>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2"/>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400" b="0" i="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3"/>
          <p:cNvSpPr txBox="1">
            <a:spLocks noGrp="1"/>
          </p:cNvSpPr>
          <p:nvPr>
            <p:ph type="body" idx="1"/>
          </p:nvPr>
        </p:nvSpPr>
        <p:spPr>
          <a:xfrm>
            <a:off x="487680" y="1682496"/>
            <a:ext cx="4242816" cy="48280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4" name="Google Shape;44;p13"/>
          <p:cNvSpPr txBox="1">
            <a:spLocks noGrp="1"/>
          </p:cNvSpPr>
          <p:nvPr>
            <p:ph type="body" idx="2"/>
          </p:nvPr>
        </p:nvSpPr>
        <p:spPr>
          <a:xfrm>
            <a:off x="5023104" y="1682496"/>
            <a:ext cx="4242816" cy="48280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5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3"/>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p:nvPr/>
        </p:nvSpPr>
        <p:spPr>
          <a:xfrm>
            <a:off x="0" y="0"/>
            <a:ext cx="9752965" cy="894080"/>
          </a:xfrm>
          <a:custGeom>
            <a:avLst/>
            <a:gdLst/>
            <a:ahLst/>
            <a:cxnLst/>
            <a:rect l="l" t="t" r="r" b="b"/>
            <a:pathLst>
              <a:path w="9752965" h="894080" extrusionOk="0">
                <a:moveTo>
                  <a:pt x="9752456" y="893567"/>
                </a:moveTo>
                <a:lnTo>
                  <a:pt x="0" y="893567"/>
                </a:lnTo>
                <a:lnTo>
                  <a:pt x="0" y="0"/>
                </a:lnTo>
                <a:lnTo>
                  <a:pt x="9752456" y="0"/>
                </a:lnTo>
                <a:lnTo>
                  <a:pt x="9752456" y="893567"/>
                </a:lnTo>
                <a:close/>
              </a:path>
            </a:pathLst>
          </a:custGeom>
          <a:solidFill>
            <a:srgbClr val="FF3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7;p8"/>
          <p:cNvSpPr/>
          <p:nvPr/>
        </p:nvSpPr>
        <p:spPr>
          <a:xfrm>
            <a:off x="0" y="7151615"/>
            <a:ext cx="9753600" cy="163830"/>
          </a:xfrm>
          <a:custGeom>
            <a:avLst/>
            <a:gdLst/>
            <a:ahLst/>
            <a:cxnLst/>
            <a:rect l="l" t="t" r="r" b="b"/>
            <a:pathLst>
              <a:path w="9753600" h="163829" extrusionOk="0">
                <a:moveTo>
                  <a:pt x="9753218" y="163584"/>
                </a:moveTo>
                <a:lnTo>
                  <a:pt x="0" y="163584"/>
                </a:lnTo>
                <a:lnTo>
                  <a:pt x="0" y="0"/>
                </a:lnTo>
                <a:lnTo>
                  <a:pt x="9753218" y="0"/>
                </a:lnTo>
                <a:lnTo>
                  <a:pt x="9753218" y="163584"/>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 name="Google Shape;8;p8"/>
          <p:cNvPicPr preferRelativeResize="0"/>
          <p:nvPr/>
        </p:nvPicPr>
        <p:blipFill rotWithShape="1">
          <a:blip r:embed="rId7">
            <a:alphaModFix/>
          </a:blip>
          <a:srcRect/>
          <a:stretch/>
        </p:blipFill>
        <p:spPr>
          <a:xfrm>
            <a:off x="6989951" y="243840"/>
            <a:ext cx="2190749" cy="676274"/>
          </a:xfrm>
          <a:prstGeom prst="rect">
            <a:avLst/>
          </a:prstGeom>
          <a:noFill/>
          <a:ln>
            <a:noFill/>
          </a:ln>
        </p:spPr>
      </p:pic>
      <p:pic>
        <p:nvPicPr>
          <p:cNvPr id="9" name="Google Shape;9;p8"/>
          <p:cNvPicPr preferRelativeResize="0"/>
          <p:nvPr/>
        </p:nvPicPr>
        <p:blipFill rotWithShape="1">
          <a:blip r:embed="rId8">
            <a:alphaModFix/>
          </a:blip>
          <a:srcRect/>
          <a:stretch/>
        </p:blipFill>
        <p:spPr>
          <a:xfrm>
            <a:off x="6989951" y="243840"/>
            <a:ext cx="2047874" cy="647623"/>
          </a:xfrm>
          <a:prstGeom prst="rect">
            <a:avLst/>
          </a:prstGeom>
          <a:noFill/>
          <a:ln>
            <a:noFill/>
          </a:ln>
        </p:spPr>
      </p:pic>
      <p:pic>
        <p:nvPicPr>
          <p:cNvPr id="10" name="Google Shape;10;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1" name="Google Shape;11;p8"/>
          <p:cNvSpPr/>
          <p:nvPr/>
        </p:nvSpPr>
        <p:spPr>
          <a:xfrm>
            <a:off x="6556416" y="0"/>
            <a:ext cx="3197860" cy="894080"/>
          </a:xfrm>
          <a:custGeom>
            <a:avLst/>
            <a:gdLst/>
            <a:ahLst/>
            <a:cxnLst/>
            <a:rect l="l" t="t" r="r" b="b"/>
            <a:pathLst>
              <a:path w="3197859" h="894080" extrusionOk="0">
                <a:moveTo>
                  <a:pt x="3197297" y="893567"/>
                </a:moveTo>
                <a:lnTo>
                  <a:pt x="0" y="893567"/>
                </a:lnTo>
                <a:lnTo>
                  <a:pt x="0" y="0"/>
                </a:lnTo>
                <a:lnTo>
                  <a:pt x="3197297" y="0"/>
                </a:lnTo>
                <a:lnTo>
                  <a:pt x="3197297" y="893567"/>
                </a:lnTo>
                <a:close/>
              </a:path>
            </a:pathLst>
          </a:custGeom>
          <a:solidFill>
            <a:srgbClr val="FF3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8"/>
          <p:cNvPicPr preferRelativeResize="0"/>
          <p:nvPr/>
        </p:nvPicPr>
        <p:blipFill rotWithShape="1">
          <a:blip r:embed="rId9">
            <a:alphaModFix/>
          </a:blip>
          <a:srcRect/>
          <a:stretch/>
        </p:blipFill>
        <p:spPr>
          <a:xfrm>
            <a:off x="6989951" y="243840"/>
            <a:ext cx="2190749" cy="676274"/>
          </a:xfrm>
          <a:prstGeom prst="rect">
            <a:avLst/>
          </a:prstGeom>
          <a:noFill/>
          <a:ln>
            <a:noFill/>
          </a:ln>
        </p:spPr>
      </p:pic>
      <p:sp>
        <p:nvSpPr>
          <p:cNvPr id="13" name="Google Shape;13;p8"/>
          <p:cNvSpPr/>
          <p:nvPr/>
        </p:nvSpPr>
        <p:spPr>
          <a:xfrm>
            <a:off x="6963071" y="203136"/>
            <a:ext cx="2213610" cy="731520"/>
          </a:xfrm>
          <a:custGeom>
            <a:avLst/>
            <a:gdLst/>
            <a:ahLst/>
            <a:cxnLst/>
            <a:rect l="l" t="t" r="r" b="b"/>
            <a:pathLst>
              <a:path w="2213609" h="731519" extrusionOk="0">
                <a:moveTo>
                  <a:pt x="2213399" y="731135"/>
                </a:moveTo>
                <a:lnTo>
                  <a:pt x="0" y="731135"/>
                </a:lnTo>
                <a:lnTo>
                  <a:pt x="0" y="0"/>
                </a:lnTo>
                <a:lnTo>
                  <a:pt x="2213399" y="0"/>
                </a:lnTo>
                <a:lnTo>
                  <a:pt x="2213399" y="731135"/>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 name="Google Shape;14;p8"/>
          <p:cNvPicPr preferRelativeResize="0"/>
          <p:nvPr/>
        </p:nvPicPr>
        <p:blipFill rotWithShape="1">
          <a:blip r:embed="rId8">
            <a:alphaModFix/>
          </a:blip>
          <a:srcRect/>
          <a:stretch/>
        </p:blipFill>
        <p:spPr>
          <a:xfrm>
            <a:off x="6989951" y="243840"/>
            <a:ext cx="2047874" cy="647623"/>
          </a:xfrm>
          <a:prstGeom prst="rect">
            <a:avLst/>
          </a:prstGeom>
          <a:noFill/>
          <a:ln>
            <a:noFill/>
          </a:ln>
        </p:spPr>
      </p:pic>
      <p:sp>
        <p:nvSpPr>
          <p:cNvPr id="15" name="Google Shape;15;p8"/>
          <p:cNvSpPr txBox="1">
            <a:spLocks noGrp="1"/>
          </p:cNvSpPr>
          <p:nvPr>
            <p:ph type="title"/>
          </p:nvPr>
        </p:nvSpPr>
        <p:spPr>
          <a:xfrm>
            <a:off x="1932513" y="109377"/>
            <a:ext cx="3569335" cy="69003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 name="Google Shape;16;p8"/>
          <p:cNvSpPr txBox="1">
            <a:spLocks noGrp="1"/>
          </p:cNvSpPr>
          <p:nvPr>
            <p:ph type="body" idx="1"/>
          </p:nvPr>
        </p:nvSpPr>
        <p:spPr>
          <a:xfrm>
            <a:off x="428995" y="1289312"/>
            <a:ext cx="8952230" cy="432117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7" name="Google Shape;17;p8"/>
          <p:cNvSpPr txBox="1">
            <a:spLocks noGrp="1"/>
          </p:cNvSpPr>
          <p:nvPr>
            <p:ph type="ftr" idx="11"/>
          </p:nvPr>
        </p:nvSpPr>
        <p:spPr>
          <a:xfrm>
            <a:off x="9076876" y="6801811"/>
            <a:ext cx="110490" cy="220979"/>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5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8"/>
          <p:cNvSpPr txBox="1">
            <a:spLocks noGrp="1"/>
          </p:cNvSpPr>
          <p:nvPr>
            <p:ph type="dt" idx="10"/>
          </p:nvPr>
        </p:nvSpPr>
        <p:spPr>
          <a:xfrm>
            <a:off x="487680" y="6803136"/>
            <a:ext cx="2243328" cy="36576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8"/>
          <p:cNvSpPr txBox="1">
            <a:spLocks noGrp="1"/>
          </p:cNvSpPr>
          <p:nvPr>
            <p:ph type="sldNum" idx="12"/>
          </p:nvPr>
        </p:nvSpPr>
        <p:spPr>
          <a:xfrm>
            <a:off x="7022592" y="6803136"/>
            <a:ext cx="2243328" cy="36576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p:nvPr/>
        </p:nvSpPr>
        <p:spPr>
          <a:xfrm>
            <a:off x="267855" y="1152575"/>
            <a:ext cx="9033300" cy="3902100"/>
          </a:xfrm>
          <a:prstGeom prst="rect">
            <a:avLst/>
          </a:prstGeom>
          <a:noFill/>
          <a:ln>
            <a:noFill/>
          </a:ln>
        </p:spPr>
        <p:txBody>
          <a:bodyPr spcFirstLastPara="1" wrap="square" lIns="0" tIns="15225" rIns="0" bIns="0" anchor="t" anchorCtr="0">
            <a:spAutoFit/>
          </a:bodyPr>
          <a:lstStyle/>
          <a:p>
            <a:pPr marL="0" marR="0" lvl="0" indent="0" algn="ctr" rtl="0">
              <a:lnSpc>
                <a:spcPct val="100000"/>
              </a:lnSpc>
              <a:spcBef>
                <a:spcPts val="0"/>
              </a:spcBef>
              <a:spcAft>
                <a:spcPts val="0"/>
              </a:spcAft>
              <a:buNone/>
            </a:pPr>
            <a:r>
              <a:rPr lang="en-US" sz="3600" dirty="0">
                <a:latin typeface="Times New Roman"/>
                <a:ea typeface="Times New Roman"/>
                <a:cs typeface="Times New Roman"/>
                <a:sym typeface="Times New Roman"/>
              </a:rPr>
              <a:t>Monitoring Deployed</a:t>
            </a:r>
            <a:r>
              <a:rPr lang="en-US" sz="3600" b="0" i="0" u="none" strike="noStrike" cap="none" dirty="0">
                <a:solidFill>
                  <a:srgbClr val="000000"/>
                </a:solidFill>
                <a:latin typeface="Times New Roman"/>
                <a:ea typeface="Times New Roman"/>
                <a:cs typeface="Times New Roman"/>
                <a:sym typeface="Times New Roman"/>
              </a:rPr>
              <a:t> Machine </a:t>
            </a:r>
            <a:r>
              <a:rPr lang="en-US" sz="3600" dirty="0">
                <a:latin typeface="Times New Roman"/>
                <a:ea typeface="Times New Roman"/>
                <a:cs typeface="Times New Roman"/>
                <a:sym typeface="Times New Roman"/>
              </a:rPr>
              <a:t>Learning</a:t>
            </a:r>
            <a:r>
              <a:rPr lang="en-US" sz="3600" b="0" i="0" u="none" strike="noStrike" cap="none" dirty="0">
                <a:solidFill>
                  <a:srgbClr val="000000"/>
                </a:solidFill>
                <a:latin typeface="Times New Roman"/>
                <a:ea typeface="Times New Roman"/>
                <a:cs typeface="Times New Roman"/>
                <a:sym typeface="Times New Roman"/>
              </a:rPr>
              <a:t> models:</a:t>
            </a:r>
            <a:endParaRPr sz="3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3600" dirty="0">
                <a:latin typeface="Times New Roman"/>
                <a:ea typeface="Times New Roman"/>
                <a:cs typeface="Times New Roman"/>
                <a:sym typeface="Times New Roman"/>
              </a:rPr>
              <a:t>Identifying </a:t>
            </a:r>
            <a:r>
              <a:rPr lang="en-US" sz="3600" b="0" i="0" u="none" strike="noStrike" cap="none" dirty="0">
                <a:solidFill>
                  <a:srgbClr val="000000"/>
                </a:solidFill>
                <a:latin typeface="Times New Roman"/>
                <a:ea typeface="Times New Roman"/>
                <a:cs typeface="Times New Roman"/>
                <a:sym typeface="Times New Roman"/>
              </a:rPr>
              <a:t> Hidden: A Machine Learning</a:t>
            </a:r>
            <a:endParaRPr sz="3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3600" b="0" i="0" u="none" strike="noStrike" cap="none" dirty="0">
                <a:solidFill>
                  <a:srgbClr val="000000"/>
                </a:solidFill>
                <a:latin typeface="Times New Roman"/>
                <a:ea typeface="Times New Roman"/>
                <a:cs typeface="Times New Roman"/>
                <a:sym typeface="Times New Roman"/>
              </a:rPr>
              <a:t>Perspective</a:t>
            </a:r>
            <a:endParaRPr sz="3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19736"/>
              </a:lnSpc>
              <a:spcBef>
                <a:spcPts val="0"/>
              </a:spcBef>
              <a:spcAft>
                <a:spcPts val="0"/>
              </a:spcAft>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19736"/>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19736"/>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19736"/>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19736"/>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19736"/>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2734945" marR="2727325" lvl="0" indent="0" algn="ctr" rtl="0">
              <a:lnSpc>
                <a:spcPct val="101200"/>
              </a:lnSpc>
              <a:spcBef>
                <a:spcPts val="5"/>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Supervised By </a:t>
            </a:r>
            <a:endParaRPr sz="2000" b="0" i="0" u="none" strike="noStrike" cap="none" dirty="0">
              <a:solidFill>
                <a:srgbClr val="000000"/>
              </a:solidFill>
              <a:latin typeface="Times New Roman"/>
              <a:ea typeface="Times New Roman"/>
              <a:cs typeface="Times New Roman"/>
              <a:sym typeface="Times New Roman"/>
            </a:endParaRPr>
          </a:p>
          <a:p>
            <a:pPr marL="2734945" marR="2727325" lvl="0" indent="0" algn="ctr" rtl="0">
              <a:lnSpc>
                <a:spcPct val="101200"/>
              </a:lnSpc>
              <a:spcBef>
                <a:spcPts val="5"/>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Dr. </a:t>
            </a:r>
            <a:r>
              <a:rPr lang="en-US" sz="2000" dirty="0">
                <a:latin typeface="Times New Roman"/>
                <a:ea typeface="Times New Roman"/>
                <a:cs typeface="Times New Roman"/>
                <a:sym typeface="Times New Roman"/>
              </a:rPr>
              <a:t>Swati </a:t>
            </a:r>
            <a:endParaRPr sz="2000" b="0" i="0" u="none" strike="noStrike" cap="none" dirty="0">
              <a:solidFill>
                <a:srgbClr val="000000"/>
              </a:solidFill>
              <a:latin typeface="Times New Roman"/>
              <a:ea typeface="Times New Roman"/>
              <a:cs typeface="Times New Roman"/>
              <a:sym typeface="Times New Roman"/>
            </a:endParaRPr>
          </a:p>
        </p:txBody>
      </p:sp>
      <p:sp>
        <p:nvSpPr>
          <p:cNvPr id="53" name="Google Shape;53;p1"/>
          <p:cNvSpPr txBox="1"/>
          <p:nvPr/>
        </p:nvSpPr>
        <p:spPr>
          <a:xfrm>
            <a:off x="1324927" y="5542364"/>
            <a:ext cx="7103745" cy="959473"/>
          </a:xfrm>
          <a:prstGeom prst="rect">
            <a:avLst/>
          </a:prstGeom>
          <a:noFill/>
          <a:ln>
            <a:noFill/>
          </a:ln>
        </p:spPr>
        <p:txBody>
          <a:bodyPr spcFirstLastPara="1" wrap="square" lIns="0" tIns="33000" rIns="0" bIns="0" anchor="t" anchorCtr="0">
            <a:spAutoFit/>
          </a:bodyPr>
          <a:lstStyle/>
          <a:p>
            <a:pPr marL="1631950" marR="5080" lvl="0" indent="-1619885" algn="ctr" rtl="0">
              <a:lnSpc>
                <a:spcPct val="117647"/>
              </a:lnSpc>
              <a:spcBef>
                <a:spcPts val="0"/>
              </a:spcBef>
              <a:spcAft>
                <a:spcPts val="0"/>
              </a:spcAft>
              <a:buClr>
                <a:srgbClr val="000000"/>
              </a:buClr>
              <a:buSzPts val="2400"/>
              <a:buFont typeface="Arial"/>
              <a:buNone/>
            </a:pPr>
            <a:r>
              <a:rPr lang="en-US" sz="2400" b="0" i="0" u="none" strike="noStrike" cap="none">
                <a:solidFill>
                  <a:srgbClr val="000000"/>
                </a:solidFill>
                <a:latin typeface="Times New Roman"/>
                <a:ea typeface="Times New Roman"/>
                <a:cs typeface="Times New Roman"/>
                <a:sym typeface="Times New Roman"/>
              </a:rPr>
              <a:t>Department of Computer Science and Engineering, Chitkara University, Punjab</a:t>
            </a:r>
            <a:endParaRPr sz="2400" b="0" i="0" u="none" strike="noStrike" cap="none">
              <a:solidFill>
                <a:srgbClr val="000000"/>
              </a:solidFill>
              <a:latin typeface="Times New Roman"/>
              <a:ea typeface="Times New Roman"/>
              <a:cs typeface="Times New Roman"/>
              <a:sym typeface="Times New Roman"/>
            </a:endParaRPr>
          </a:p>
        </p:txBody>
      </p:sp>
      <p:sp>
        <p:nvSpPr>
          <p:cNvPr id="54" name="Google Shape;54;p1"/>
          <p:cNvSpPr txBox="1"/>
          <p:nvPr/>
        </p:nvSpPr>
        <p:spPr>
          <a:xfrm>
            <a:off x="16185" y="3009672"/>
            <a:ext cx="9305753" cy="70784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dirty="0">
                <a:latin typeface="Times New Roman"/>
                <a:ea typeface="Times New Roman"/>
                <a:cs typeface="Times New Roman"/>
                <a:sym typeface="Times New Roman"/>
              </a:rPr>
              <a:t>                                          Tejanshu</a:t>
            </a:r>
            <a:r>
              <a:rPr lang="en-US" sz="2000" b="0" i="0" u="none" strike="noStrike" cap="none" dirty="0">
                <a:solidFill>
                  <a:srgbClr val="000000"/>
                </a:solidFill>
                <a:latin typeface="Times New Roman"/>
                <a:ea typeface="Times New Roman"/>
                <a:cs typeface="Times New Roman"/>
                <a:sym typeface="Times New Roman"/>
              </a:rPr>
              <a:t> Sethi (2210992462)                                                </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FEA338-11A3-B883-4C2E-944AD8F05D44}"/>
              </a:ext>
            </a:extLst>
          </p:cNvPr>
          <p:cNvSpPr txBox="1"/>
          <p:nvPr/>
        </p:nvSpPr>
        <p:spPr>
          <a:xfrm>
            <a:off x="210207" y="367862"/>
            <a:ext cx="7104993" cy="3939540"/>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Abstract</a:t>
            </a:r>
          </a:p>
          <a:p>
            <a:pPr>
              <a:buNone/>
            </a:pPr>
            <a:endParaRPr lang="en-US" b="1" dirty="0"/>
          </a:p>
          <a:p>
            <a:pPr>
              <a:buNone/>
            </a:pPr>
            <a:endParaRPr lang="en-US" b="1" dirty="0"/>
          </a:p>
          <a:p>
            <a:pPr>
              <a:buNone/>
            </a:pPr>
            <a:endParaRPr lang="en-US" b="1" dirty="0"/>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project focuses on recognizing human activities using smartphone sensors. </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Data from accelerometer and gyroscope is used. </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Machine learning models classify activities like walking, sitting, etc. </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Different models are compared to find the best one. </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Results show high accuracy and practical applications in real life. </a:t>
            </a:r>
          </a:p>
        </p:txBody>
      </p:sp>
    </p:spTree>
    <p:extLst>
      <p:ext uri="{BB962C8B-B14F-4D97-AF65-F5344CB8AC3E}">
        <p14:creationId xmlns:p14="http://schemas.microsoft.com/office/powerpoint/2010/main" val="2861317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2"/>
          <p:cNvSpPr txBox="1">
            <a:spLocks noGrp="1"/>
          </p:cNvSpPr>
          <p:nvPr>
            <p:ph type="title"/>
          </p:nvPr>
        </p:nvSpPr>
        <p:spPr>
          <a:xfrm>
            <a:off x="-387625" y="109377"/>
            <a:ext cx="5889474" cy="444973"/>
          </a:xfrm>
          <a:prstGeom prst="rect">
            <a:avLst/>
          </a:prstGeom>
          <a:noFill/>
          <a:ln>
            <a:noFill/>
          </a:ln>
        </p:spPr>
        <p:txBody>
          <a:bodyPr spcFirstLastPara="1" wrap="square" lIns="0" tIns="13950" rIns="0" bIns="0" anchor="t" anchorCtr="0">
            <a:spAutoFit/>
          </a:bodyPr>
          <a:lstStyle/>
          <a:p>
            <a:pPr marL="601980" lvl="0" indent="0" algn="l" rtl="0">
              <a:lnSpc>
                <a:spcPct val="100000"/>
              </a:lnSpc>
              <a:spcBef>
                <a:spcPts val="0"/>
              </a:spcBef>
              <a:spcAft>
                <a:spcPts val="0"/>
              </a:spcAft>
              <a:buSzPts val="1400"/>
              <a:buNone/>
            </a:pPr>
            <a:r>
              <a:rPr lang="en-US" sz="3600"/>
              <a:t>Introduction</a:t>
            </a:r>
            <a:endParaRPr/>
          </a:p>
        </p:txBody>
      </p:sp>
      <p:sp>
        <p:nvSpPr>
          <p:cNvPr id="60" name="Google Shape;60;p2"/>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SzPts val="1400"/>
              <a:buNone/>
            </a:pPr>
            <a:r>
              <a:rPr lang="en-US"/>
              <a:t>2</a:t>
            </a:r>
            <a:endParaRPr/>
          </a:p>
        </p:txBody>
      </p:sp>
      <p:sp>
        <p:nvSpPr>
          <p:cNvPr id="61" name="Google Shape;61;p2"/>
          <p:cNvSpPr/>
          <p:nvPr/>
        </p:nvSpPr>
        <p:spPr>
          <a:xfrm>
            <a:off x="189186" y="1737612"/>
            <a:ext cx="8502869" cy="286228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Today, </a:t>
            </a:r>
            <a:r>
              <a:rPr lang="en-US" sz="1800" dirty="0">
                <a:solidFill>
                  <a:schemeClr val="dk1"/>
                </a:solidFill>
                <a:latin typeface="Times New Roman"/>
                <a:ea typeface="Times New Roman"/>
                <a:cs typeface="Times New Roman"/>
                <a:sym typeface="Times New Roman"/>
              </a:rPr>
              <a:t>machine learning</a:t>
            </a:r>
            <a:r>
              <a:rPr lang="en-US" sz="1800" b="0" i="0" u="none" strike="noStrike" cap="none" dirty="0">
                <a:solidFill>
                  <a:schemeClr val="dk1"/>
                </a:solidFill>
                <a:latin typeface="Times New Roman"/>
                <a:ea typeface="Times New Roman"/>
                <a:cs typeface="Times New Roman"/>
                <a:sym typeface="Times New Roman"/>
              </a:rPr>
              <a:t> models are widely used </a:t>
            </a:r>
            <a:r>
              <a:rPr lang="en-US" sz="1800" dirty="0">
                <a:solidFill>
                  <a:schemeClr val="dk1"/>
                </a:solidFill>
                <a:latin typeface="Times New Roman"/>
                <a:ea typeface="Times New Roman"/>
                <a:cs typeface="Times New Roman"/>
                <a:sym typeface="Times New Roman"/>
              </a:rPr>
              <a:t> in real </a:t>
            </a:r>
            <a:r>
              <a:rPr lang="en-US" sz="1800" b="0" i="0" u="none" strike="noStrike" cap="none" dirty="0">
                <a:solidFill>
                  <a:schemeClr val="dk1"/>
                </a:solidFill>
                <a:latin typeface="Times New Roman"/>
                <a:ea typeface="Times New Roman"/>
                <a:cs typeface="Times New Roman"/>
                <a:sym typeface="Times New Roman"/>
              </a:rPr>
              <a:t>applications but </a:t>
            </a:r>
            <a:r>
              <a:rPr lang="en-US" sz="1800" dirty="0">
                <a:solidFill>
                  <a:schemeClr val="dk1"/>
                </a:solidFill>
                <a:latin typeface="Times New Roman"/>
                <a:ea typeface="Times New Roman"/>
                <a:cs typeface="Times New Roman"/>
                <a:sym typeface="Times New Roman"/>
              </a:rPr>
              <a:t>their</a:t>
            </a:r>
            <a:r>
              <a:rPr lang="en-US" sz="1800" b="0" i="0" u="none" strike="noStrike" cap="none" dirty="0">
                <a:solidFill>
                  <a:schemeClr val="dk1"/>
                </a:solidFill>
                <a:latin typeface="Times New Roman"/>
                <a:ea typeface="Times New Roman"/>
                <a:cs typeface="Times New Roman"/>
                <a:sym typeface="Times New Roman"/>
              </a:rPr>
              <a:t>    performance can decrease over time due to changes in data  patterns and real application. </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dirty="0">
                <a:solidFill>
                  <a:schemeClr val="dk1"/>
                </a:solidFill>
                <a:latin typeface="Times New Roman"/>
                <a:ea typeface="Times New Roman"/>
                <a:cs typeface="Times New Roman"/>
                <a:sym typeface="Times New Roman"/>
              </a:rPr>
              <a:t>Machine Learning model monitoring </a:t>
            </a:r>
            <a:r>
              <a:rPr lang="en-US" sz="1800" b="0" i="0" u="none" strike="noStrike" cap="none" dirty="0">
                <a:solidFill>
                  <a:schemeClr val="dk1"/>
                </a:solidFill>
                <a:latin typeface="Times New Roman"/>
                <a:ea typeface="Times New Roman"/>
                <a:cs typeface="Times New Roman"/>
                <a:sym typeface="Times New Roman"/>
              </a:rPr>
              <a:t>is a system that </a:t>
            </a:r>
            <a:r>
              <a:rPr lang="en-US" sz="1800" dirty="0">
                <a:solidFill>
                  <a:schemeClr val="dk1"/>
                </a:solidFill>
                <a:latin typeface="Times New Roman"/>
                <a:ea typeface="Times New Roman"/>
                <a:cs typeface="Times New Roman"/>
                <a:sym typeface="Times New Roman"/>
              </a:rPr>
              <a:t>continuously</a:t>
            </a:r>
            <a:r>
              <a:rPr lang="en-US" sz="1800" b="0" i="0" u="none" strike="noStrike" cap="none" dirty="0">
                <a:solidFill>
                  <a:schemeClr val="dk1"/>
                </a:solidFill>
                <a:latin typeface="Times New Roman"/>
                <a:ea typeface="Times New Roman"/>
                <a:cs typeface="Times New Roman"/>
                <a:sym typeface="Times New Roman"/>
              </a:rPr>
              <a:t> tracks deployed walking, sitting, or running using data from phone sensors. </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Sensors like the </a:t>
            </a:r>
            <a:r>
              <a:rPr lang="en-US" sz="1800" b="1" i="0" u="none" strike="noStrike" cap="none" dirty="0">
                <a:solidFill>
                  <a:schemeClr val="dk1"/>
                </a:solidFill>
                <a:latin typeface="Times New Roman"/>
                <a:ea typeface="Times New Roman"/>
                <a:cs typeface="Times New Roman"/>
                <a:sym typeface="Times New Roman"/>
              </a:rPr>
              <a:t>accelerometer</a:t>
            </a:r>
            <a:r>
              <a:rPr lang="en-US" sz="1800" b="0" i="0" u="none" strike="noStrike" cap="none" dirty="0">
                <a:solidFill>
                  <a:schemeClr val="dk1"/>
                </a:solidFill>
                <a:latin typeface="Times New Roman"/>
                <a:ea typeface="Times New Roman"/>
                <a:cs typeface="Times New Roman"/>
                <a:sym typeface="Times New Roman"/>
              </a:rPr>
              <a:t> and </a:t>
            </a:r>
            <a:r>
              <a:rPr lang="en-US" sz="1800" b="1" i="0" u="none" strike="noStrike" cap="none" dirty="0">
                <a:solidFill>
                  <a:schemeClr val="dk1"/>
                </a:solidFill>
                <a:latin typeface="Times New Roman"/>
                <a:ea typeface="Times New Roman"/>
                <a:cs typeface="Times New Roman"/>
                <a:sym typeface="Times New Roman"/>
              </a:rPr>
              <a:t>gyroscope</a:t>
            </a:r>
            <a:r>
              <a:rPr lang="en-US" sz="1800" b="0" i="0" u="none" strike="noStrike" cap="none" dirty="0">
                <a:solidFill>
                  <a:schemeClr val="dk1"/>
                </a:solidFill>
                <a:latin typeface="Times New Roman"/>
                <a:ea typeface="Times New Roman"/>
                <a:cs typeface="Times New Roman"/>
                <a:sym typeface="Times New Roman"/>
              </a:rPr>
              <a:t> track movement and orientation. </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By using machine learning, we can train systems to automatically recognize these activities. </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This technology is widely used in fitness apps, healthcare monitoring, and smart living systems.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5C97-2C5D-68B2-511C-912424C5EC6F}"/>
              </a:ext>
            </a:extLst>
          </p:cNvPr>
          <p:cNvSpPr>
            <a:spLocks noGrp="1"/>
          </p:cNvSpPr>
          <p:nvPr>
            <p:ph type="title"/>
          </p:nvPr>
        </p:nvSpPr>
        <p:spPr>
          <a:xfrm>
            <a:off x="428995" y="122440"/>
            <a:ext cx="5632477" cy="1046440"/>
          </a:xfrm>
        </p:spPr>
        <p:txBody>
          <a:bodyPr/>
          <a:lstStyle/>
          <a:p>
            <a:r>
              <a:rPr lang="en-IN" dirty="0"/>
              <a:t>Tools and Technology</a:t>
            </a:r>
          </a:p>
        </p:txBody>
      </p:sp>
      <p:sp>
        <p:nvSpPr>
          <p:cNvPr id="4" name="Rectangle 1">
            <a:extLst>
              <a:ext uri="{FF2B5EF4-FFF2-40B4-BE49-F238E27FC236}">
                <a16:creationId xmlns:a16="http://schemas.microsoft.com/office/drawing/2014/main" id="{B46ACE52-B611-540B-178C-48A86E2412DE}"/>
              </a:ext>
            </a:extLst>
          </p:cNvPr>
          <p:cNvSpPr>
            <a:spLocks noGrp="1" noChangeArrowheads="1"/>
          </p:cNvSpPr>
          <p:nvPr>
            <p:ph type="body" idx="1"/>
          </p:nvPr>
        </p:nvSpPr>
        <p:spPr bwMode="auto">
          <a:xfrm>
            <a:off x="428995" y="966599"/>
            <a:ext cx="650738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 Python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NumPy, Pandas, Scikit-learn, Matplotlib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Platform: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solidFill>
                  <a:schemeClr val="tx1"/>
                </a:solidFill>
                <a:latin typeface="Times New Roman" panose="02020603050405020304" pitchFamily="18" charset="0"/>
                <a:cs typeface="Times New Roman" panose="02020603050405020304" pitchFamily="18" charset="0"/>
              </a:rPr>
              <a:t>Metric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Accuracy, Precision,Recall,F1-score,Data Drift detection </a:t>
            </a:r>
          </a:p>
        </p:txBody>
      </p:sp>
    </p:spTree>
    <p:extLst>
      <p:ext uri="{BB962C8B-B14F-4D97-AF65-F5344CB8AC3E}">
        <p14:creationId xmlns:p14="http://schemas.microsoft.com/office/powerpoint/2010/main" val="3080091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30B8-48A2-364C-EA8C-3A288C0FE2A4}"/>
              </a:ext>
            </a:extLst>
          </p:cNvPr>
          <p:cNvSpPr>
            <a:spLocks noGrp="1"/>
          </p:cNvSpPr>
          <p:nvPr>
            <p:ph type="title"/>
          </p:nvPr>
        </p:nvSpPr>
        <p:spPr>
          <a:xfrm>
            <a:off x="1932513" y="109377"/>
            <a:ext cx="3569335" cy="523220"/>
          </a:xfrm>
        </p:spPr>
        <p:txBody>
          <a:bodyPr/>
          <a:lstStyle/>
          <a:p>
            <a:r>
              <a:rPr lang="en-IN" dirty="0"/>
              <a:t>Implementation</a:t>
            </a:r>
          </a:p>
        </p:txBody>
      </p:sp>
      <p:sp>
        <p:nvSpPr>
          <p:cNvPr id="4" name="Rectangle 1">
            <a:extLst>
              <a:ext uri="{FF2B5EF4-FFF2-40B4-BE49-F238E27FC236}">
                <a16:creationId xmlns:a16="http://schemas.microsoft.com/office/drawing/2014/main" id="{99C2B30A-66C8-99FE-B8BF-87F8A213A726}"/>
              </a:ext>
            </a:extLst>
          </p:cNvPr>
          <p:cNvSpPr>
            <a:spLocks noGrp="1" noChangeArrowheads="1"/>
          </p:cNvSpPr>
          <p:nvPr>
            <p:ph type="body" idx="1"/>
          </p:nvPr>
        </p:nvSpPr>
        <p:spPr bwMode="auto">
          <a:xfrm>
            <a:off x="428995" y="944325"/>
            <a:ext cx="689926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and cleaned sensor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Extracted useful features from raw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Trained multiple machine learning models.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model performance using evaluation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Generated graphs for visualization. </a:t>
            </a:r>
          </a:p>
        </p:txBody>
      </p:sp>
    </p:spTree>
    <p:extLst>
      <p:ext uri="{BB962C8B-B14F-4D97-AF65-F5344CB8AC3E}">
        <p14:creationId xmlns:p14="http://schemas.microsoft.com/office/powerpoint/2010/main" val="4024445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129209" y="109377"/>
            <a:ext cx="5372640"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3600"/>
              <a:t>Objective</a:t>
            </a:r>
            <a:endParaRPr/>
          </a:p>
        </p:txBody>
      </p:sp>
      <p:sp>
        <p:nvSpPr>
          <p:cNvPr id="67" name="Google Shape;67;p14"/>
          <p:cNvSpPr/>
          <p:nvPr/>
        </p:nvSpPr>
        <p:spPr>
          <a:xfrm flipH="1">
            <a:off x="278295" y="2071089"/>
            <a:ext cx="7414592" cy="2308324"/>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68" name="Google Shape;68;p14"/>
          <p:cNvSpPr/>
          <p:nvPr/>
        </p:nvSpPr>
        <p:spPr>
          <a:xfrm>
            <a:off x="129209" y="1220074"/>
            <a:ext cx="9214488" cy="2585323"/>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The main goal of this project is to build a system that can recognize human activities using smartphone data. </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We aim to apply machine learning techniques to classify different activities accurately.</a:t>
            </a:r>
            <a:endParaRPr/>
          </a:p>
          <a:p>
            <a:pPr marL="0" marR="0" lvl="0" indent="0" algn="l" rtl="0">
              <a:lnSpc>
                <a:spcPct val="100000"/>
              </a:lnSpc>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Another objective is to compare different models and find out which one performs best. </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Ultimately, we want a system that is reliable, efficient, and easy to use.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3"/>
          <p:cNvSpPr txBox="1">
            <a:spLocks noGrp="1"/>
          </p:cNvSpPr>
          <p:nvPr>
            <p:ph type="title"/>
          </p:nvPr>
        </p:nvSpPr>
        <p:spPr>
          <a:xfrm>
            <a:off x="69573" y="-10601"/>
            <a:ext cx="5361155" cy="590329"/>
          </a:xfrm>
          <a:prstGeom prst="rect">
            <a:avLst/>
          </a:prstGeom>
          <a:noFill/>
          <a:ln>
            <a:noFill/>
          </a:ln>
        </p:spPr>
        <p:txBody>
          <a:bodyPr spcFirstLastPara="1" wrap="square" lIns="0" tIns="157900" rIns="0" bIns="0" anchor="t" anchorCtr="0">
            <a:spAutoFit/>
          </a:bodyPr>
          <a:lstStyle/>
          <a:p>
            <a:pPr marL="12700" lvl="0" indent="0" algn="l" rtl="0">
              <a:lnSpc>
                <a:spcPct val="100000"/>
              </a:lnSpc>
              <a:spcBef>
                <a:spcPts val="0"/>
              </a:spcBef>
              <a:spcAft>
                <a:spcPts val="0"/>
              </a:spcAft>
              <a:buSzPts val="1400"/>
              <a:buNone/>
            </a:pPr>
            <a:r>
              <a:rPr lang="en-US" sz="3600"/>
              <a:t>Problem Statement</a:t>
            </a:r>
            <a:endParaRPr sz="3600"/>
          </a:p>
        </p:txBody>
      </p:sp>
      <p:sp>
        <p:nvSpPr>
          <p:cNvPr id="74" name="Google Shape;74;p3"/>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SzPts val="1400"/>
              <a:buNone/>
            </a:pPr>
            <a:r>
              <a:rPr lang="en-US"/>
              <a:t>2</a:t>
            </a:r>
            <a:endParaRPr/>
          </a:p>
        </p:txBody>
      </p:sp>
      <p:sp>
        <p:nvSpPr>
          <p:cNvPr id="75" name="Google Shape;75;p3"/>
          <p:cNvSpPr/>
          <p:nvPr/>
        </p:nvSpPr>
        <p:spPr>
          <a:xfrm>
            <a:off x="-1" y="1561377"/>
            <a:ext cx="9532883" cy="369331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Observing and recording human activities manually is time-consuming and not always accurate. </a:t>
            </a:r>
            <a:endParaRPr dirty="0"/>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The data collected from sensors can be complex and noisy. </a:t>
            </a:r>
            <a:endParaRPr dirty="0"/>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So, the challenge is to create a system that can:</a:t>
            </a:r>
            <a:endParaRPr dirty="0"/>
          </a:p>
          <a:p>
            <a:pPr marL="0" marR="0" lvl="0" indent="0" algn="l" rtl="0">
              <a:lnSpc>
                <a:spcPct val="100000"/>
              </a:lnSpc>
              <a:spcBef>
                <a:spcPts val="0"/>
              </a:spcBef>
              <a:spcAft>
                <a:spcPts val="0"/>
              </a:spcAft>
              <a:buNone/>
            </a:pPr>
            <a:r>
              <a:rPr lang="en-US" sz="1800" b="0" i="0" u="none" strike="noStrike" cap="none" dirty="0">
                <a:solidFill>
                  <a:schemeClr val="dk1"/>
                </a:solidFill>
                <a:latin typeface="Times New Roman"/>
                <a:ea typeface="Times New Roman"/>
                <a:cs typeface="Times New Roman"/>
                <a:sym typeface="Times New Roman"/>
              </a:rPr>
              <a:t> </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Automatically detect activities</a:t>
            </a:r>
            <a:endParaRPr dirty="0"/>
          </a:p>
          <a:p>
            <a:pPr marR="0" lvl="0" algn="l" rtl="0">
              <a:lnSpc>
                <a:spcPct val="100000"/>
              </a:lnSpc>
              <a:spcBef>
                <a:spcPts val="0"/>
              </a:spcBef>
              <a:spcAft>
                <a:spcPts val="0"/>
              </a:spcAft>
              <a:buClr>
                <a:schemeClr val="dk1"/>
              </a:buClr>
              <a:buSzPts val="1800"/>
            </a:pP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Work efficiently in real-time </a:t>
            </a:r>
            <a:endParaRPr dirty="0"/>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Times New Roman"/>
                <a:ea typeface="Times New Roman"/>
                <a:cs typeface="Times New Roman"/>
                <a:sym typeface="Times New Roman"/>
              </a:rPr>
              <a:t>Maintain high accuracy without human effort</a:t>
            </a:r>
            <a:endParaRPr dirty="0"/>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834887" y="109377"/>
            <a:ext cx="6336735" cy="590329"/>
          </a:xfrm>
          <a:prstGeom prst="rect">
            <a:avLst/>
          </a:prstGeom>
          <a:noFill/>
          <a:ln>
            <a:noFill/>
          </a:ln>
        </p:spPr>
        <p:txBody>
          <a:bodyPr spcFirstLastPara="1" wrap="square" lIns="0" tIns="157900" rIns="0" bIns="0" anchor="t" anchorCtr="0">
            <a:spAutoFit/>
          </a:bodyPr>
          <a:lstStyle/>
          <a:p>
            <a:pPr marL="996314" lvl="0" indent="0" algn="l" rtl="0">
              <a:lnSpc>
                <a:spcPct val="100000"/>
              </a:lnSpc>
              <a:spcBef>
                <a:spcPts val="0"/>
              </a:spcBef>
              <a:spcAft>
                <a:spcPts val="0"/>
              </a:spcAft>
              <a:buSzPts val="1400"/>
              <a:buNone/>
            </a:pPr>
            <a:r>
              <a:rPr lang="en-US" sz="3600"/>
              <a:t>Methodology</a:t>
            </a:r>
            <a:endParaRPr/>
          </a:p>
        </p:txBody>
      </p:sp>
      <p:sp>
        <p:nvSpPr>
          <p:cNvPr id="81" name="Google Shape;81;p4"/>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indent="0" algn="just" rtl="0">
              <a:lnSpc>
                <a:spcPct val="151800"/>
              </a:lnSpc>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p:txBody>
      </p:sp>
      <p:sp>
        <p:nvSpPr>
          <p:cNvPr id="82" name="Google Shape;82;p4"/>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SzPts val="1400"/>
              <a:buNone/>
            </a:pPr>
            <a:r>
              <a:rPr lang="en-US"/>
              <a:t>2</a:t>
            </a:r>
            <a:endParaRPr/>
          </a:p>
        </p:txBody>
      </p:sp>
      <p:sp>
        <p:nvSpPr>
          <p:cNvPr id="83" name="Google Shape;83;p4"/>
          <p:cNvSpPr/>
          <p:nvPr/>
        </p:nvSpPr>
        <p:spPr>
          <a:xfrm>
            <a:off x="97721" y="939748"/>
            <a:ext cx="9089645" cy="313932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First, we collect data from smartphone sensors like the accelerometer and gyroscope.</a:t>
            </a:r>
            <a:endParaRPr/>
          </a:p>
          <a:p>
            <a:pPr marL="0" marR="0" lvl="0" indent="0" algn="l" rtl="0">
              <a:lnSpc>
                <a:spcPct val="100000"/>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Then, we clean and process this data to remove noise and make it usable. </a:t>
            </a:r>
            <a:endParaRPr/>
          </a:p>
          <a:p>
            <a:pPr marL="0" marR="0" lvl="0" indent="0" algn="l" rtl="0">
              <a:lnSpc>
                <a:spcPct val="100000"/>
              </a:lnSpc>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After that, we extract important features such as average values and variations in movement</a:t>
            </a:r>
            <a:endParaRPr/>
          </a:p>
          <a:p>
            <a:pPr marL="0" marR="0" lvl="0" indent="0" algn="l" rtl="0">
              <a:lnSpc>
                <a:spcPct val="100000"/>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 </a:t>
            </a:r>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Next, we train different machine learning models like Decision Tree, Random Forest, SVM, and KNN. </a:t>
            </a:r>
            <a:endParaRPr/>
          </a:p>
          <a:p>
            <a:pPr marL="0" marR="0" lvl="0" indent="0" algn="l" rtl="0">
              <a:lnSpc>
                <a:spcPct val="100000"/>
              </a:lnSpc>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Finally, we test these models and evaluate their performance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5"/>
          <p:cNvSpPr txBox="1">
            <a:spLocks noGrp="1"/>
          </p:cNvSpPr>
          <p:nvPr>
            <p:ph type="title"/>
          </p:nvPr>
        </p:nvSpPr>
        <p:spPr>
          <a:xfrm>
            <a:off x="-834887" y="109377"/>
            <a:ext cx="6336735" cy="528774"/>
          </a:xfrm>
          <a:prstGeom prst="rect">
            <a:avLst/>
          </a:prstGeom>
          <a:noFill/>
          <a:ln>
            <a:noFill/>
          </a:ln>
        </p:spPr>
        <p:txBody>
          <a:bodyPr spcFirstLastPara="1" wrap="square" lIns="0" tIns="157900" rIns="0" bIns="0" anchor="t" anchorCtr="0">
            <a:spAutoFit/>
          </a:bodyPr>
          <a:lstStyle/>
          <a:p>
            <a:pPr marL="996314" lvl="0" indent="0" algn="l" rtl="0">
              <a:lnSpc>
                <a:spcPct val="100000"/>
              </a:lnSpc>
              <a:spcBef>
                <a:spcPts val="0"/>
              </a:spcBef>
              <a:spcAft>
                <a:spcPts val="0"/>
              </a:spcAft>
              <a:buSzPts val="1400"/>
              <a:buNone/>
            </a:pPr>
            <a:r>
              <a:rPr lang="en-US" sz="2400" b="1"/>
              <a:t>Class Distribution</a:t>
            </a:r>
            <a:endParaRPr sz="2400" b="1"/>
          </a:p>
        </p:txBody>
      </p:sp>
      <p:sp>
        <p:nvSpPr>
          <p:cNvPr id="89" name="Google Shape;89;p15"/>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indent="0" algn="just" rtl="0">
              <a:lnSpc>
                <a:spcPct val="151800"/>
              </a:lnSpc>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p:txBody>
      </p:sp>
      <p:sp>
        <p:nvSpPr>
          <p:cNvPr id="90" name="Google Shape;90;p15"/>
          <p:cNvSpPr txBox="1"/>
          <p:nvPr/>
        </p:nvSpPr>
        <p:spPr>
          <a:xfrm>
            <a:off x="754545" y="1604556"/>
            <a:ext cx="802953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62E8B42-E96B-F531-1E72-CB9A97D82FA0}"/>
              </a:ext>
            </a:extLst>
          </p:cNvPr>
          <p:cNvPicPr>
            <a:picLocks noChangeAspect="1"/>
          </p:cNvPicPr>
          <p:nvPr/>
        </p:nvPicPr>
        <p:blipFill>
          <a:blip r:embed="rId3"/>
          <a:stretch>
            <a:fillRect/>
          </a:stretch>
        </p:blipFill>
        <p:spPr>
          <a:xfrm>
            <a:off x="168163" y="1040524"/>
            <a:ext cx="8647443" cy="57386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834887" y="109377"/>
            <a:ext cx="7328284" cy="528774"/>
          </a:xfrm>
          <a:prstGeom prst="rect">
            <a:avLst/>
          </a:prstGeom>
          <a:noFill/>
          <a:ln>
            <a:noFill/>
          </a:ln>
        </p:spPr>
        <p:txBody>
          <a:bodyPr spcFirstLastPara="1" wrap="square" lIns="0" tIns="157900" rIns="0" bIns="0" anchor="t" anchorCtr="0">
            <a:spAutoFit/>
          </a:bodyPr>
          <a:lstStyle/>
          <a:p>
            <a:pPr marL="996314" lvl="0" indent="0" algn="l" rtl="0">
              <a:lnSpc>
                <a:spcPct val="100000"/>
              </a:lnSpc>
              <a:spcBef>
                <a:spcPts val="0"/>
              </a:spcBef>
              <a:spcAft>
                <a:spcPts val="0"/>
              </a:spcAft>
              <a:buSzPts val="1400"/>
              <a:buNone/>
            </a:pPr>
            <a:r>
              <a:rPr lang="en-US" sz="2400" b="1"/>
              <a:t>Model comparison</a:t>
            </a:r>
            <a:endParaRPr sz="2400" b="1"/>
          </a:p>
        </p:txBody>
      </p:sp>
      <p:sp>
        <p:nvSpPr>
          <p:cNvPr id="97" name="Google Shape;97;p16"/>
          <p:cNvSpPr txBox="1"/>
          <p:nvPr/>
        </p:nvSpPr>
        <p:spPr>
          <a:xfrm>
            <a:off x="232155" y="1353176"/>
            <a:ext cx="8766900" cy="502761"/>
          </a:xfrm>
          <a:prstGeom prst="rect">
            <a:avLst/>
          </a:prstGeom>
          <a:noFill/>
          <a:ln>
            <a:noFill/>
          </a:ln>
        </p:spPr>
        <p:txBody>
          <a:bodyPr spcFirstLastPara="1" wrap="square" lIns="0" tIns="11425" rIns="0" bIns="0" anchor="t" anchorCtr="0">
            <a:spAutoFit/>
          </a:bodyPr>
          <a:lstStyle/>
          <a:p>
            <a:pPr marL="95250" marR="8890" lvl="0" indent="0" algn="just" rtl="0">
              <a:lnSpc>
                <a:spcPct val="151800"/>
              </a:lnSpc>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p:txBody>
      </p:sp>
      <p:sp>
        <p:nvSpPr>
          <p:cNvPr id="98" name="Google Shape;98;p16"/>
          <p:cNvSpPr txBox="1">
            <a:spLocks noGrp="1"/>
          </p:cNvSpPr>
          <p:nvPr>
            <p:ph type="ftr" idx="11"/>
          </p:nvPr>
        </p:nvSpPr>
        <p:spPr>
          <a:xfrm>
            <a:off x="9076876" y="6801811"/>
            <a:ext cx="110490" cy="220979"/>
          </a:xfrm>
          <a:prstGeom prst="rect">
            <a:avLst/>
          </a:prstGeom>
          <a:noFill/>
          <a:ln>
            <a:noFill/>
          </a:ln>
        </p:spPr>
        <p:txBody>
          <a:bodyPr spcFirstLastPara="1" wrap="square" lIns="0" tIns="8250" rIns="0" bIns="0" anchor="t" anchorCtr="0">
            <a:spAutoFit/>
          </a:bodyPr>
          <a:lstStyle/>
          <a:p>
            <a:pPr marL="12700" lvl="0" indent="0" algn="l" rtl="0">
              <a:lnSpc>
                <a:spcPct val="100000"/>
              </a:lnSpc>
              <a:spcBef>
                <a:spcPts val="0"/>
              </a:spcBef>
              <a:spcAft>
                <a:spcPts val="0"/>
              </a:spcAft>
              <a:buSzPts val="1400"/>
              <a:buNone/>
            </a:pPr>
            <a:r>
              <a:rPr lang="en-US"/>
              <a:t>2</a:t>
            </a:r>
            <a:endParaRPr/>
          </a:p>
        </p:txBody>
      </p:sp>
      <p:sp>
        <p:nvSpPr>
          <p:cNvPr id="99" name="Google Shape;99;p16"/>
          <p:cNvSpPr txBox="1"/>
          <p:nvPr/>
        </p:nvSpPr>
        <p:spPr>
          <a:xfrm>
            <a:off x="754545" y="1604556"/>
            <a:ext cx="802953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pic>
        <p:nvPicPr>
          <p:cNvPr id="100" name="Google Shape;100;p16"/>
          <p:cNvPicPr preferRelativeResize="0"/>
          <p:nvPr/>
        </p:nvPicPr>
        <p:blipFill rotWithShape="1">
          <a:blip r:embed="rId3">
            <a:alphaModFix/>
          </a:blip>
          <a:srcRect/>
          <a:stretch/>
        </p:blipFill>
        <p:spPr>
          <a:xfrm>
            <a:off x="232155" y="1419225"/>
            <a:ext cx="9289290" cy="570342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19ac019662_0_1"/>
          <p:cNvSpPr txBox="1">
            <a:spLocks noGrp="1"/>
          </p:cNvSpPr>
          <p:nvPr>
            <p:ph type="title"/>
          </p:nvPr>
        </p:nvSpPr>
        <p:spPr>
          <a:xfrm>
            <a:off x="99392" y="181802"/>
            <a:ext cx="6156996" cy="5232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Results &amp; Discussion</a:t>
            </a:r>
            <a:endParaRPr/>
          </a:p>
        </p:txBody>
      </p:sp>
      <p:sp>
        <p:nvSpPr>
          <p:cNvPr id="106" name="Google Shape;106;g319ac019662_0_1"/>
          <p:cNvSpPr txBox="1">
            <a:spLocks noGrp="1"/>
          </p:cNvSpPr>
          <p:nvPr>
            <p:ph type="body" idx="1"/>
          </p:nvPr>
        </p:nvSpPr>
        <p:spPr>
          <a:xfrm flipH="1">
            <a:off x="9605818" y="7269481"/>
            <a:ext cx="1098332" cy="45719"/>
          </a:xfrm>
          <a:prstGeom prst="rect">
            <a:avLst/>
          </a:prstGeom>
          <a:noFill/>
          <a:ln>
            <a:noFill/>
          </a:ln>
        </p:spPr>
        <p:txBody>
          <a:bodyPr spcFirstLastPara="1" wrap="square" lIns="0" tIns="0" rIns="0" bIns="0" anchor="t" anchorCtr="0">
            <a:spAutoFit/>
          </a:bodyPr>
          <a:lstStyle/>
          <a:p>
            <a:pPr marL="0" lvl="0" indent="0" algn="l" rtl="0">
              <a:lnSpc>
                <a:spcPct val="100000"/>
              </a:lnSpc>
              <a:spcBef>
                <a:spcPts val="1200"/>
              </a:spcBef>
              <a:spcAft>
                <a:spcPts val="0"/>
              </a:spcAft>
              <a:buSzPts val="1400"/>
              <a:buNone/>
            </a:pPr>
            <a:endParaRPr sz="1200" b="1">
              <a:latin typeface="Arial"/>
              <a:ea typeface="Arial"/>
              <a:cs typeface="Arial"/>
              <a:sym typeface="Arial"/>
            </a:endParaRPr>
          </a:p>
        </p:txBody>
      </p:sp>
      <p:sp>
        <p:nvSpPr>
          <p:cNvPr id="107" name="Google Shape;107;g319ac019662_0_1"/>
          <p:cNvSpPr/>
          <p:nvPr/>
        </p:nvSpPr>
        <p:spPr>
          <a:xfrm>
            <a:off x="99392" y="1078598"/>
            <a:ext cx="9753600" cy="2585323"/>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The models were tested, and we achieved high accuracy (around 90–95%, depending on the model). </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Random Forest performed the best in most cases. </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Using multiple sensors together improved the results. </a:t>
            </a:r>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However, some activities like sitting and standing are harder to distinguish because they are very similar.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4E4ED-89B0-326B-4AF6-DCF240B342FE}"/>
              </a:ext>
            </a:extLst>
          </p:cNvPr>
          <p:cNvSpPr>
            <a:spLocks noGrp="1"/>
          </p:cNvSpPr>
          <p:nvPr>
            <p:ph type="title"/>
          </p:nvPr>
        </p:nvSpPr>
        <p:spPr>
          <a:xfrm>
            <a:off x="287383" y="109377"/>
            <a:ext cx="6936377" cy="1046440"/>
          </a:xfrm>
        </p:spPr>
        <p:txBody>
          <a:bodyPr/>
          <a:lstStyle/>
          <a:p>
            <a:r>
              <a:rPr lang="en-IN" dirty="0"/>
              <a:t>Conclusion and Future scope</a:t>
            </a:r>
          </a:p>
        </p:txBody>
      </p:sp>
      <p:sp>
        <p:nvSpPr>
          <p:cNvPr id="3" name="Text Placeholder 2">
            <a:extLst>
              <a:ext uri="{FF2B5EF4-FFF2-40B4-BE49-F238E27FC236}">
                <a16:creationId xmlns:a16="http://schemas.microsoft.com/office/drawing/2014/main" id="{87E272E9-914C-00C7-BFB4-62D02393383C}"/>
              </a:ext>
            </a:extLst>
          </p:cNvPr>
          <p:cNvSpPr>
            <a:spLocks noGrp="1"/>
          </p:cNvSpPr>
          <p:nvPr>
            <p:ph type="body" idx="1"/>
          </p:nvPr>
        </p:nvSpPr>
        <p:spPr>
          <a:xfrm>
            <a:off x="428995" y="1289312"/>
            <a:ext cx="8952230" cy="3231654"/>
          </a:xfrm>
        </p:spPr>
        <p:txBody>
          <a:bodyPr/>
          <a:lstStyle/>
          <a:p>
            <a:r>
              <a:rPr lang="en-US" dirty="0"/>
              <a:t>Monitoring deployed machine learning models is important for accuracy.</a:t>
            </a:r>
          </a:p>
          <a:p>
            <a:r>
              <a:rPr lang="en-US" dirty="0"/>
              <a:t>Machine learning models can accurately classify activities. </a:t>
            </a:r>
          </a:p>
          <a:p>
            <a:r>
              <a:rPr lang="en-US" dirty="0"/>
              <a:t>Random Forest is the most balanced model. </a:t>
            </a:r>
          </a:p>
          <a:p>
            <a:endParaRPr lang="en-US" dirty="0"/>
          </a:p>
          <a:p>
            <a:r>
              <a:rPr lang="en-US" b="1" dirty="0"/>
              <a:t>Future Scope:</a:t>
            </a:r>
          </a:p>
          <a:p>
            <a:endParaRPr lang="en-US" dirty="0"/>
          </a:p>
          <a:p>
            <a:r>
              <a:rPr lang="en-US" dirty="0"/>
              <a:t>Use deep learning models like CNN, LSTM </a:t>
            </a:r>
          </a:p>
          <a:p>
            <a:r>
              <a:rPr lang="en-US" dirty="0"/>
              <a:t>Develop real-time mobile applications </a:t>
            </a:r>
          </a:p>
          <a:p>
            <a:r>
              <a:rPr lang="en-US" dirty="0"/>
              <a:t>Improve accuracy with better sensors </a:t>
            </a:r>
          </a:p>
          <a:p>
            <a:endParaRPr lang="en-IN" dirty="0"/>
          </a:p>
        </p:txBody>
      </p:sp>
    </p:spTree>
    <p:extLst>
      <p:ext uri="{BB962C8B-B14F-4D97-AF65-F5344CB8AC3E}">
        <p14:creationId xmlns:p14="http://schemas.microsoft.com/office/powerpoint/2010/main" val="2225168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417443" y="109377"/>
            <a:ext cx="5084405" cy="52322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Conclusion</a:t>
            </a:r>
            <a:endParaRPr/>
          </a:p>
        </p:txBody>
      </p:sp>
      <p:sp>
        <p:nvSpPr>
          <p:cNvPr id="113" name="Google Shape;113;p17"/>
          <p:cNvSpPr/>
          <p:nvPr/>
        </p:nvSpPr>
        <p:spPr>
          <a:xfrm>
            <a:off x="128445" y="1152630"/>
            <a:ext cx="9231455" cy="255454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1. This project shows that smartphones can effectively recognize human activities.</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2. Machine learning plays a key role in making this possible. </a:t>
            </a:r>
            <a:endParaRPr/>
          </a:p>
          <a:p>
            <a:pPr marL="0" marR="0" lvl="0" indent="0" algn="l" rtl="0">
              <a:lnSpc>
                <a:spcPct val="100000"/>
              </a:lnSpc>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3. Random Forest and SVM are strong models for this task.</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4. In the future, we can improve this system using deep learning techniques and real-time mobile applications.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B12A0-DDD7-0A27-FA89-DA4ACA20D429}"/>
              </a:ext>
            </a:extLst>
          </p:cNvPr>
          <p:cNvSpPr>
            <a:spLocks noGrp="1"/>
          </p:cNvSpPr>
          <p:nvPr>
            <p:ph type="title"/>
          </p:nvPr>
        </p:nvSpPr>
        <p:spPr>
          <a:xfrm>
            <a:off x="248195" y="109376"/>
            <a:ext cx="8804366" cy="9264075"/>
          </a:xfrm>
        </p:spPr>
        <p:txBody>
          <a:bodyPr/>
          <a:lstStyle/>
          <a:p>
            <a:r>
              <a:rPr lang="en-US" b="1" dirty="0"/>
              <a:t>References</a:t>
            </a:r>
            <a:br>
              <a:rPr lang="en-US" b="1" dirty="0"/>
            </a:br>
            <a:br>
              <a:rPr lang="en-US" b="1" dirty="0"/>
            </a:br>
            <a:br>
              <a:rPr lang="en-US" b="1" dirty="0"/>
            </a:br>
            <a:br>
              <a:rPr lang="en-US" sz="1800" b="1" dirty="0"/>
            </a:br>
            <a:r>
              <a:rPr lang="en-US" sz="1800" dirty="0"/>
              <a:t>Hidden Technical Debt in Machine Learning Systems</a:t>
            </a:r>
            <a:br>
              <a:rPr lang="en-US" sz="1800" dirty="0"/>
            </a:br>
            <a:r>
              <a:rPr lang="en-US" sz="1800" dirty="0"/>
              <a:t>Authors: D. Sculley et al.</a:t>
            </a:r>
            <a:br>
              <a:rPr lang="en-US" sz="1800" dirty="0"/>
            </a:br>
            <a:r>
              <a:rPr lang="en-US" sz="1800" dirty="0"/>
              <a:t>Focuses on challenges in maintaining deployed ML systems and performance degradation over time.</a:t>
            </a:r>
            <a:br>
              <a:rPr lang="en-US" sz="1800" dirty="0"/>
            </a:br>
            <a:br>
              <a:rPr lang="en-US" sz="1800" dirty="0"/>
            </a:br>
            <a:r>
              <a:rPr lang="en-US" sz="1800" dirty="0"/>
              <a:t>Concept Drift: A Review</a:t>
            </a:r>
            <a:br>
              <a:rPr lang="en-US" sz="1800" dirty="0"/>
            </a:br>
            <a:r>
              <a:rPr lang="en-US" sz="1800" dirty="0"/>
              <a:t>Authors: João Gama et al.</a:t>
            </a:r>
            <a:br>
              <a:rPr lang="en-US" sz="1800" dirty="0"/>
            </a:br>
            <a:r>
              <a:rPr lang="en-US" sz="1800" dirty="0"/>
              <a:t>Explains concept drift detection methods used in monitoring changing machine learning environments.</a:t>
            </a:r>
            <a:br>
              <a:rPr lang="en-US" sz="1800" dirty="0"/>
            </a:br>
            <a:br>
              <a:rPr lang="en-US" sz="1800" dirty="0"/>
            </a:br>
            <a:r>
              <a:rPr lang="en-US" sz="1800" dirty="0"/>
              <a:t>Monitoring Machine Learning Models in Production</a:t>
            </a:r>
            <a:br>
              <a:rPr lang="en-US" sz="1800" dirty="0"/>
            </a:br>
            <a:r>
              <a:rPr lang="en-US" sz="1800" dirty="0"/>
              <a:t>Discusses techniques for tracking model accuracy, data quality, and system reliability in real-world deployment.</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r>
              <a:rPr lang="en-US" sz="1800" dirty="0"/>
              <a:t>Studies on Hidden Performance Degradation in ML Systems</a:t>
            </a:r>
            <a:br>
              <a:rPr lang="en-US" sz="1800" dirty="0"/>
            </a:br>
            <a:r>
              <a:rPr lang="en-US" sz="1800" dirty="0"/>
              <a:t>Research articles on AI Reliability and Model Maintenance</a:t>
            </a:r>
            <a:br>
              <a:rPr lang="en-US" sz="1800" dirty="0"/>
            </a:br>
            <a:br>
              <a:rPr lang="en-US" sz="1800" dirty="0"/>
            </a:br>
            <a:br>
              <a:rPr lang="en-US" dirty="0"/>
            </a:br>
            <a:endParaRPr lang="en-IN" dirty="0"/>
          </a:p>
        </p:txBody>
      </p:sp>
    </p:spTree>
    <p:extLst>
      <p:ext uri="{BB962C8B-B14F-4D97-AF65-F5344CB8AC3E}">
        <p14:creationId xmlns:p14="http://schemas.microsoft.com/office/powerpoint/2010/main" val="3739442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06287-1DBC-6A87-1835-8695D48BA503}"/>
              </a:ext>
            </a:extLst>
          </p:cNvPr>
          <p:cNvSpPr>
            <a:spLocks noGrp="1"/>
          </p:cNvSpPr>
          <p:nvPr>
            <p:ph type="title"/>
          </p:nvPr>
        </p:nvSpPr>
        <p:spPr>
          <a:xfrm>
            <a:off x="1932513" y="109377"/>
            <a:ext cx="3569335" cy="523220"/>
          </a:xfrm>
        </p:spPr>
        <p:txBody>
          <a:bodyPr/>
          <a:lstStyle/>
          <a:p>
            <a:r>
              <a:rPr lang="en-IN" dirty="0"/>
              <a:t>Appendices</a:t>
            </a:r>
          </a:p>
        </p:txBody>
      </p:sp>
      <p:sp>
        <p:nvSpPr>
          <p:cNvPr id="4" name="Rectangle 1">
            <a:extLst>
              <a:ext uri="{FF2B5EF4-FFF2-40B4-BE49-F238E27FC236}">
                <a16:creationId xmlns:a16="http://schemas.microsoft.com/office/drawing/2014/main" id="{25644183-5A73-3C62-1D52-1175EBBB9905}"/>
              </a:ext>
            </a:extLst>
          </p:cNvPr>
          <p:cNvSpPr>
            <a:spLocks noGrp="1" noChangeArrowheads="1"/>
          </p:cNvSpPr>
          <p:nvPr>
            <p:ph type="body" idx="1"/>
          </p:nvPr>
        </p:nvSpPr>
        <p:spPr bwMode="auto">
          <a:xfrm>
            <a:off x="428995" y="1224002"/>
            <a:ext cx="64028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Sample dataset details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Additional graphs and charts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snippets (if required) </a:t>
            </a:r>
          </a:p>
        </p:txBody>
      </p:sp>
    </p:spTree>
    <p:extLst>
      <p:ext uri="{BB962C8B-B14F-4D97-AF65-F5344CB8AC3E}">
        <p14:creationId xmlns:p14="http://schemas.microsoft.com/office/powerpoint/2010/main" val="2259342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a:spLocks noGrp="1"/>
          </p:cNvSpPr>
          <p:nvPr>
            <p:ph type="title"/>
          </p:nvPr>
        </p:nvSpPr>
        <p:spPr>
          <a:xfrm>
            <a:off x="3137882" y="2901732"/>
            <a:ext cx="3644900" cy="3553517"/>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sz="5750"/>
              <a:t>Thank You</a:t>
            </a:r>
            <a:br>
              <a:rPr lang="en-US" sz="5750"/>
            </a:br>
            <a:br>
              <a:rPr lang="en-US" sz="5750"/>
            </a:br>
            <a:br>
              <a:rPr lang="en-US" sz="5750"/>
            </a:br>
            <a:endParaRPr sz="5750"/>
          </a:p>
        </p:txBody>
      </p:sp>
      <p:sp>
        <p:nvSpPr>
          <p:cNvPr id="119" name="Google Shape;119;p7"/>
          <p:cNvSpPr txBox="1"/>
          <p:nvPr/>
        </p:nvSpPr>
        <p:spPr>
          <a:xfrm>
            <a:off x="9074494" y="6801811"/>
            <a:ext cx="112395" cy="220979"/>
          </a:xfrm>
          <a:prstGeom prst="rect">
            <a:avLst/>
          </a:prstGeom>
          <a:noFill/>
          <a:ln>
            <a:noFill/>
          </a:ln>
        </p:spPr>
        <p:txBody>
          <a:bodyPr spcFirstLastPara="1" wrap="square" lIns="0" tIns="825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0000"/>
                </a:solidFill>
                <a:latin typeface="Trebuchet MS"/>
                <a:ea typeface="Trebuchet MS"/>
                <a:cs typeface="Trebuchet MS"/>
                <a:sym typeface="Trebuchet MS"/>
              </a:rPr>
              <a:t>3</a:t>
            </a:r>
            <a:endParaRPr sz="1200" b="0" i="0" u="none" strike="noStrike" cap="none">
              <a:solidFill>
                <a:srgbClr val="000000"/>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762</Words>
  <Application>Microsoft Office PowerPoint</Application>
  <PresentationFormat>Custom</PresentationFormat>
  <Paragraphs>136</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Trebuchet MS</vt:lpstr>
      <vt:lpstr>Office Theme</vt:lpstr>
      <vt:lpstr>PowerPoint Presentation</vt:lpstr>
      <vt:lpstr>PowerPoint Presentation</vt:lpstr>
      <vt:lpstr>Introduction</vt:lpstr>
      <vt:lpstr>Tools and Technology</vt:lpstr>
      <vt:lpstr>Implementation</vt:lpstr>
      <vt:lpstr>Objective</vt:lpstr>
      <vt:lpstr>Problem Statement</vt:lpstr>
      <vt:lpstr>Methodology</vt:lpstr>
      <vt:lpstr>Class Distribution</vt:lpstr>
      <vt:lpstr>Model comparison</vt:lpstr>
      <vt:lpstr>Results &amp; Discussion</vt:lpstr>
      <vt:lpstr>Conclusion and Future scope</vt:lpstr>
      <vt:lpstr>Conclusion</vt:lpstr>
      <vt:lpstr>References    Hidden Technical Debt in Machine Learning Systems Authors: D. Sculley et al. Focuses on challenges in maintaining deployed ML systems and performance degradation over time.  Concept Drift: A Review Authors: João Gama et al. Explains concept drift detection methods used in monitoring changing machine learning environments.  Monitoring Machine Learning Models in Production Discusses techniques for tracking model accuracy, data quality, and system reliability in real-world deployment.        Studies on Hidden Performance Degradation in ML Systems Research articles on AI Reliability and Model Maintenance   </vt:lpstr>
      <vt:lpstr>Appendices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nakul JAIN</dc:creator>
  <cp:lastModifiedBy>Prince singh</cp:lastModifiedBy>
  <cp:revision>2</cp:revision>
  <dcterms:created xsi:type="dcterms:W3CDTF">2026-03-24T19:17:42Z</dcterms:created>
  <dcterms:modified xsi:type="dcterms:W3CDTF">2026-05-11T13:14:20Z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2024-08-03T00:00:00Z</vt:filetime>
  </property>
  <property fmtid="{D5CDD505-2E9C-101B-9397-08002B2CF9AE}" pid="3" name="Creator">
    <vt:lpwstr>Canva</vt:lpwstr>
  </property>
  <property fmtid="{D5CDD505-2E9C-101B-9397-08002B2CF9AE}" pid="4" name="LastSaved">
    <vt:filetime>2024-10-02T00:00:00Z</vt:filetime>
  </property>
  <property fmtid="{D5CDD505-2E9C-101B-9397-08002B2CF9AE}" pid="5" name="Producer">
    <vt:lpwstr>Canva</vt:lpwstr>
  </property>
</Properties>
</file>